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ad5a5a5524e5b" /><Relationship Type="http://schemas.openxmlformats.org/officeDocument/2006/relationships/extended-properties" Target="/docProps/app.xml" Id="Rca46e2c3962c4d69" /><Relationship Type="http://schemas.openxmlformats.org/officeDocument/2006/relationships/officeDocument" Target="/ppt/presentation.xml" Id="R96c184b46dc9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72324b04a4f15"/>
  </p:sldMasterIdLst>
  <p:notesMasterIdLst>
    <p:notesMasterId xmlns:r="http://schemas.openxmlformats.org/officeDocument/2006/relationships" r:id="Rab83ceabcccf4e8e"/>
  </p:notesMasterIdLst>
  <p:sldIdLst>
    <p:sldId xmlns:r="http://schemas.openxmlformats.org/officeDocument/2006/relationships" id="256" r:id="R6e20c6ad0d064ade"/>
    <p:sldId xmlns:r="http://schemas.openxmlformats.org/officeDocument/2006/relationships" id="257" r:id="R93bad45780f84ac1"/>
    <p:sldId xmlns:r="http://schemas.openxmlformats.org/officeDocument/2006/relationships" id="258" r:id="R5e53abe2fbb74c42"/>
    <p:sldId xmlns:r="http://schemas.openxmlformats.org/officeDocument/2006/relationships" id="259" r:id="Rfaea6ec569e5451e"/>
    <p:sldId xmlns:r="http://schemas.openxmlformats.org/officeDocument/2006/relationships" id="260" r:id="Ra9d3382a95df4da4"/>
    <p:sldId xmlns:r="http://schemas.openxmlformats.org/officeDocument/2006/relationships" id="261" r:id="R12b3ce73cd564ff3"/>
    <p:sldId xmlns:r="http://schemas.openxmlformats.org/officeDocument/2006/relationships" id="262" r:id="R3448416d86984318"/>
    <p:sldId xmlns:r="http://schemas.openxmlformats.org/officeDocument/2006/relationships" id="263" r:id="Rf00eb83788fd47f2"/>
    <p:sldId xmlns:r="http://schemas.openxmlformats.org/officeDocument/2006/relationships" id="264" r:id="Rc1794cdaa9554d67"/>
    <p:sldId xmlns:r="http://schemas.openxmlformats.org/officeDocument/2006/relationships" id="265" r:id="Rcf916aee2aeb46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661f059f384e00" /><Relationship Type="http://schemas.openxmlformats.org/officeDocument/2006/relationships/slideMaster" Target="/ppt/slideMasters/slideMaster1.xml" Id="R01472324b04a4f15" /><Relationship Type="http://schemas.openxmlformats.org/officeDocument/2006/relationships/notesMaster" Target="/ppt/notesMasters/notesMaster1.xml" Id="Rab83ceabcccf4e8e" /><Relationship Type="http://schemas.openxmlformats.org/officeDocument/2006/relationships/presProps" Target="/ppt/presProps.xml" Id="R635f1ea77808444a" /><Relationship Type="http://schemas.openxmlformats.org/officeDocument/2006/relationships/tableStyles" Target="/ppt/tableStyles.xml" Id="R33de5be3cb784e0d" /><Relationship Type="http://schemas.openxmlformats.org/officeDocument/2006/relationships/slide" Target="/ppt/slides/slide1.xml" Id="R6e20c6ad0d064ade" /><Relationship Type="http://schemas.openxmlformats.org/officeDocument/2006/relationships/slide" Target="/ppt/slides/slide2.xml" Id="R93bad45780f84ac1" /><Relationship Type="http://schemas.openxmlformats.org/officeDocument/2006/relationships/slide" Target="/ppt/slides/slide3.xml" Id="R5e53abe2fbb74c42" /><Relationship Type="http://schemas.openxmlformats.org/officeDocument/2006/relationships/slide" Target="/ppt/slides/slide4.xml" Id="Rfaea6ec569e5451e" /><Relationship Type="http://schemas.openxmlformats.org/officeDocument/2006/relationships/slide" Target="/ppt/slides/slide5.xml" Id="Ra9d3382a95df4da4" /><Relationship Type="http://schemas.openxmlformats.org/officeDocument/2006/relationships/slide" Target="/ppt/slides/slide6.xml" Id="R12b3ce73cd564ff3" /><Relationship Type="http://schemas.openxmlformats.org/officeDocument/2006/relationships/slide" Target="/ppt/slides/slide7.xml" Id="R3448416d86984318" /><Relationship Type="http://schemas.openxmlformats.org/officeDocument/2006/relationships/slide" Target="/ppt/slides/slide8.xml" Id="Rf00eb83788fd47f2" /><Relationship Type="http://schemas.openxmlformats.org/officeDocument/2006/relationships/slide" Target="/ppt/slides/slide9.xml" Id="Rc1794cdaa9554d67" /><Relationship Type="http://schemas.openxmlformats.org/officeDocument/2006/relationships/slide" Target="/ppt/slides/slide10.xml" Id="Rcf916aee2aeb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92ddef1bd1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821c8d1b1f416c" /><Relationship Type="http://schemas.openxmlformats.org/officeDocument/2006/relationships/notesMaster" Target="/ppt/notesMasters/notesMaster1.xml" Id="Ra8702fbd42eb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a775afb6c4623" /><Relationship Type="http://schemas.openxmlformats.org/officeDocument/2006/relationships/notesMaster" Target="/ppt/notesMasters/notesMaster1.xml" Id="Rf0763542ccc2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6f5613ed1465b" /><Relationship Type="http://schemas.openxmlformats.org/officeDocument/2006/relationships/notesMaster" Target="/ppt/notesMasters/notesMaster1.xml" Id="Rc5fb3da65d3140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f3b22991d04e41" /><Relationship Type="http://schemas.openxmlformats.org/officeDocument/2006/relationships/notesMaster" Target="/ppt/notesMasters/notesMaster1.xml" Id="R01d90452638241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0be484cd44235" /><Relationship Type="http://schemas.openxmlformats.org/officeDocument/2006/relationships/notesMaster" Target="/ppt/notesMasters/notesMaster1.xml" Id="R6567bb61b7db4e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578bc907724edd" /><Relationship Type="http://schemas.openxmlformats.org/officeDocument/2006/relationships/notesMaster" Target="/ppt/notesMasters/notesMaster1.xml" Id="Rfa628dcecfdc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10ee62c5a4ad8" /><Relationship Type="http://schemas.openxmlformats.org/officeDocument/2006/relationships/notesMaster" Target="/ppt/notesMasters/notesMaster1.xml" Id="Ra7c62c9ceced4b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11f937d3d34f3d" /><Relationship Type="http://schemas.openxmlformats.org/officeDocument/2006/relationships/notesMaster" Target="/ppt/notesMasters/notesMaster1.xml" Id="R16c73370ac8b42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48363921d40eb" /><Relationship Type="http://schemas.openxmlformats.org/officeDocument/2006/relationships/notesMaster" Target="/ppt/notesMasters/notesMaster1.xml" Id="R649d9f17fd58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fdf4602014d18" /><Relationship Type="http://schemas.openxmlformats.org/officeDocument/2006/relationships/notesMaster" Target="/ppt/notesMasters/notesMaster1.xml" Id="Rd4a62b34eee6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各位领导好，我是质量岗位的左聪，目前主要承担 8D Champion 的工作。今天我想汇报的，不只是试用期内完成了哪些任务，更想说明我为团队带来了什么价值。过去三个月，我主要围绕两件事展开：第一，把已经发生的质量问题分析清楚、推动改善并验证闭环；第二，把分散的质量信息沉淀下来，让项目团队能够共享和追溯。下面我会用一个 8D 案例和规格书看板，具体说明这两项成果。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我在入职第一个月就接手了批量死灯问题。这个案件涉及供应商、研发、工艺、SMT 和装配多个环节，对一个刚加入团队的人来说，既是挑战，也是快速熟悉业务的机会。我的工作路径比较清晰：先梳理现象，再设计验证，推动跨部门改善，最后用试产和量产结果确认方案。完成问题闭环之后，我也开始思考，怎样把这些过程和证据留下来，所以后续进一步建设了规格书电子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这三个月的成果可以概括成两个闭环。第一个是问题闭环：批量死灯案件涉及成品灯板 1,505 Pcs、紫光灯珠 135,450 Pcs，已产生报废金额 15,652 元。这些数字代表的是案件影响范围，并不是个人节省金额。第二个是数据闭环：以产品编号为入口，把规格信息、流程信息和实验室报告串联起来。前者体现我解决复杂问题的能力，后者体现我把一次性经验转化为长期管理能力的思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这个案件发生在 2026 年 5 月，我于 6 月加入宁波宜兴照明有限公司后接手分析。广东中阳广电科技是本次灯珠供应商，并不是我的任职公司。供应商最初根据灯珠外部物理损伤，把方向指向 SMT 贴片制程。我们没有直接接受这个判断，而是组织内部复核。我负责分析路径和 8D 推进，程海洋、王高星提供装配和 SMT 资源，吴昭顺负责工艺改善，陈中平负责产品设计改善，最终依靠团队协作逐步形成完整证据链。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我们的原则是不靠猜测，而是让每一轮验证回答一个问题。首先比较手工贴片和机器贴片，两种方式都没有复现死灯，说明不能简单归因于某一种贴片方式。随后进行应力测试，震动后死灯率为 33.33%，跌落后为 66.67%，问题开始指向产品可靠性。交叉验证中，旧灯板应力测试后死灯率为 50%，新灯板为 0%。同时温升复测峰值达到 129℃，明显高于原终测报告的 115℃。这些证据最终把分析方向锁定在设计可靠性和温升异常。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最终我们确认了两项主要原因：一是产品设计可靠性冗余不足，二是产品温升异常。对应的改善动作是优化灯板厚度，并同步调整贴片工艺参数。改善后，我们先安排了 48 Pcs 小批验证，完成老化、装配、跌落和震动测试后均未出现死灯。之后在 6 月 22 日进行大批量生产，老化结果正常，方案有效，案件正式结案。另外，多轮对比显示现象没有随新旧灯珠批次变化，这是一项验证结果，不把它扩大表述为对任何一方的绝对归责或免责。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在处理问题的过程中，我也发现另一个长期痛点。一个产品从研发测试，到产品经理送样，再到 DQE 终样，会产生很多数据，但这些数据原来分散在不同流程、文件和人员手中。项目成员想了解完整情况时，往往需要逐个询问熟悉历史的人。这样不仅查询效率低，也容易造成信息断层。对质量管理来说，只有把结果和过程集中起来，问题经验才不会随着人员或项目变化而流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针对这个问题，我以规格书为中心搭建了电子质量台账。现在，项目团队只需要通过产品编号，就能查看相关规格信息、流程名称、流程单号以及历史记录。它改变的并不只是资料的存放位置，更重要的是建立了统一入口，让原本掌握在少数人手中的信息变成团队可以随时共享的数据。看板部署在阿里云轻量服务器上，这里我不展开技术细节，重点是我推动它从想法落地成了团队能够实际访问和使用的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格书看板比较亮眼的一点，是它并不止于查规格书。台账编号还联动了实验室区域，每个编号都可以对应一份完整的产品报告。实际使用时，从产品编号检索到台账记录，再点击实验室报告，就能快速查看相关测试证据。目前台账已沉淀 83 条记录。这样，规格、流程和报告不再是彼此独立的文件，而是形成了一条完整的质量证据链，也减少了对个人记忆的依赖。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回顾这三个月，我沉淀下来的不只是一次 8D 经验，也包括系统分析、验证设计、跨部门推动、结果闭环和数字化落地几方面能力。转正后，我会继续提高规格书与实验室报告的数据完整性，完善产品编号、流程单号和报告之间的关联，同时推动项目成员稳定使用，并根据反馈持续优化。我的目标是：把一次问题解决好，把一套方法沉淀下来，让质量信息真正服务项目决策。以上是我的汇报，谢谢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1b4eefacd40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9af2e5d434a62" /><Relationship Type="http://schemas.openxmlformats.org/officeDocument/2006/relationships/slideLayout" Target="/ppt/slideLayouts/slideLayout1.xml" Id="R5b89d7014d104d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9d7014d104d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f3923b9da4ffc" /><Relationship Type="http://schemas.openxmlformats.org/officeDocument/2006/relationships/notesSlide" Target="/ppt/notesSlides/notesSlide1.xml" Id="Rfe11363a43a8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198f563a3486a" /><Relationship Type="http://schemas.openxmlformats.org/officeDocument/2006/relationships/notesSlide" Target="/ppt/notesSlides/notesSlide2.xml" Id="Rdfeebe58bed1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f1a378e134b0c" /><Relationship Type="http://schemas.openxmlformats.org/officeDocument/2006/relationships/notesSlide" Target="/ppt/notesSlides/notesSlide3.xml" Id="R23dff98381b2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b12361e834a68" /><Relationship Type="http://schemas.openxmlformats.org/officeDocument/2006/relationships/notesSlide" Target="/ppt/notesSlides/notesSlide4.xml" Id="Rced914c319d8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0fb722c0c42c8" /><Relationship Type="http://schemas.openxmlformats.org/officeDocument/2006/relationships/image" Target="/ppt/media/image.jpeg" Id="R46aa6e5bb7c24254" /><Relationship Type="http://schemas.openxmlformats.org/officeDocument/2006/relationships/notesSlide" Target="/ppt/notesSlides/notesSlide5.xml" Id="Rbd01a6f92429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6223f8c5a4df9" /><Relationship Type="http://schemas.openxmlformats.org/officeDocument/2006/relationships/image" Target="/ppt/media/image2.jpeg" Id="R8fe99dbd40dc4ef6" /><Relationship Type="http://schemas.openxmlformats.org/officeDocument/2006/relationships/notesSlide" Target="/ppt/notesSlides/notesSlide6.xml" Id="Rb15611a0dbdc4a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0b2f697841dc" /><Relationship Type="http://schemas.openxmlformats.org/officeDocument/2006/relationships/notesSlide" Target="/ppt/notesSlides/notesSlide7.xml" Id="R2b937e5d8e3a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45d6c65d34b62" /><Relationship Type="http://schemas.openxmlformats.org/officeDocument/2006/relationships/image" Target="/ppt/media/image3.jpeg" Id="R626d3cdba26c4153" /><Relationship Type="http://schemas.openxmlformats.org/officeDocument/2006/relationships/notesSlide" Target="/ppt/notesSlides/notesSlide8.xml" Id="R06e43f04eecb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880b5f2a84ada" /><Relationship Type="http://schemas.openxmlformats.org/officeDocument/2006/relationships/image" Target="/ppt/media/image4.jpeg" Id="Rc0e6bd4585294684" /><Relationship Type="http://schemas.openxmlformats.org/officeDocument/2006/relationships/image" Target="/ppt/media/image5.jpeg" Id="R58027d7ec4f34fbc" /><Relationship Type="http://schemas.openxmlformats.org/officeDocument/2006/relationships/notesSlide" Target="/ppt/notesSlides/notesSlide9.xml" Id="Rf10b87979aca4c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9d6f8d43547bd" /><Relationship Type="http://schemas.openxmlformats.org/officeDocument/2006/relationships/notesSlide" Target="/ppt/notesSlides/notesSlide10.xml" Id="Rde6c46acdd1c4e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B2A8A-E87C-4666-9C15-EDA67633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-200025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0DCB3-9B47-4744-AE33-D454F81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0477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C7A61-6306-407A-A8CA-D544CC4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81775-AFEC-42C2-BA84-89CA459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试用期转正述职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67564-63B6-4141-8DA5-4E345C7D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90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让质量问题可闭环</a:t>
            </a:r>
          </a:p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让质量数据可追溯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6BA70-CECE-4DF1-A17C-8A0F4106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D0E7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BFD0E7"/>
                </a:solidFill>
                <a:latin typeface="Noto Sans SC"/>
                <a:ea typeface="Noto Sans SC"/>
                <a:cs typeface="Noto Sans SC"/>
              </a:rPr>
              <a:t>左聪  ·  质量  ·  8D Champion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D38C9-6F1A-443A-A229-524A71D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7B284-45B0-43D7-BC7D-7C5AA558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6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9E6F6"/>
                </a:solidFill>
                <a:latin typeface="Noto Sans SC"/>
                <a:ea typeface="Noto Sans SC"/>
                <a:cs typeface="Noto Sans SC"/>
              </a:rPr>
              <a:t>宁波宜兴照明有限公司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6A936-52BE-4C93-AE3D-FB3412ED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04877-A8C0-4AB2-BA00-D148CD4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BE21C-AEA5-4277-A51D-0D70CF6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8BE9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87917-0B20-423D-A1F3-30B09D2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rPr>
              <a:t>发现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3D395-F995-4F84-A9FB-4B989E1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8BE9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DE5C3-0D1D-4A90-B8F3-02407E2D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43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7492-6D31-4FFF-8BA4-C60F322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8BE9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E9DA3-52A8-40EE-8BE2-BF2D846A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43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rPr>
              <a:t>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9BFD1-BBD0-4C61-8573-3A7A4C04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9050">
            <a:solidFill>
              <a:srgbClr val="8BE9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88A2F-6692-42B6-BC0E-6C0D0B7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FC5DC"/>
                </a:solidFill>
                <a:latin typeface="Noto Sans SC"/>
                <a:ea typeface="Noto Sans SC"/>
                <a:cs typeface="Noto Sans SC"/>
              </a:rPr>
              <a:t>沉淀</a:t>
            </a:r>
          </a:p>
        </p:txBody>
      </p:sp>
    </p:spTree>
    <p:extLst>
      <p:ext uri="{BB962C8B-B14F-4D97-AF65-F5344CB8AC3E}">
        <p14:creationId xmlns:p14="http://schemas.microsoft.com/office/powerpoint/2010/main" val="1450569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4FD14-76F4-4491-8D87-FD04FF79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360EC-D356-440C-AAC4-FE4143E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入职三个月：从解决问题到建设体系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08A0-20F9-473E-9A27-2547BBA6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AA906-A379-4AEA-B9DB-54F783F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一条连续的成长路径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63EE-8810-437E-926D-A55E256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C5E5E-C69F-45BA-B8F5-5EB3EEB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56F5-4811-4D89-84A6-4C799C9B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4624-0872-45FA-B71E-3D829E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接手问题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E7905-20A8-4BEB-9C1B-088D86B4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批量死灯</a:t>
            </a:r>
          </a:p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跨部门复杂问题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26A9-97F8-4F35-9B20-E9AD33EB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19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40279-C3AA-459E-9160-4E15785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004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A260E-989F-4616-907A-33D4A0F8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主导验证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5F8A8-F9DC-4500-B689-50964E73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648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排除假设</a:t>
            </a:r>
          </a:p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建立证据链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5DA39-3A97-4FC3-BED4-5864BA3F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29F72-AA4D-4EFD-9A39-1DB9096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1A929-02C7-4863-8F90-C39FB13C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推动结案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3F14-C763-4B96-BC16-2BF195B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试产验证</a:t>
            </a:r>
          </a:p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量产确认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350A7-2B8F-4580-BBC3-5479AF3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19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49FF9-5CDB-47FA-A22B-4239C59A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004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63104-2C7F-4C23-B314-9AF8217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沉淀体系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88C5F-95C4-4BE9-BAD8-6A81A73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48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规格书电子台账</a:t>
            </a:r>
          </a:p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质量数据闭环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5829E-0442-4A95-9AE8-D588F37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56790-FFE5-4229-A487-DCA53009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2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0223C"/>
                </a:solidFill>
                <a:latin typeface="Noto Sans SC"/>
                <a:ea typeface="Noto Sans SC"/>
                <a:cs typeface="Noto Sans SC"/>
              </a:rPr>
              <a:t>入职首月就承担复杂问题；完成闭环后，进一步把经验变成团队长期可用的质量资产。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ADB47-8F8F-4F4D-A211-2BF6B2B6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2538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CFFC9-D33A-4E34-8242-80F79B5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CORE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54357-FF16-42EF-858E-7F36087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两项核心成果：问题闭环与数据闭环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35132-F894-4AA9-AC06-F28C045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485E-29E8-4DC2-823A-97CBD95B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867150"/>
          </a:xfrm>
          <a:prstGeom xmlns:a="http://schemas.openxmlformats.org/drawingml/2006/main" prst="roundRect">
            <a:avLst>
              <a:gd name="adj" fmla="val 4433"/>
            </a:avLst>
          </a:prstGeom>
          <a:solidFill xmlns:a="http://schemas.openxmlformats.org/drawingml/2006/main">
            <a:srgbClr val="101E32"/>
          </a:solidFill>
          <a:ln xmlns:a="http://schemas.openxmlformats.org/drawingml/2006/main" w="9525">
            <a:solidFill>
              <a:srgbClr val="2435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6FDB6-BEA3-43E9-BD49-FA8AD94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867150"/>
          </a:xfrm>
          <a:prstGeom xmlns:a="http://schemas.openxmlformats.org/drawingml/2006/main" prst="roundRect">
            <a:avLst>
              <a:gd name="adj" fmla="val 4433"/>
            </a:avLst>
          </a:prstGeom>
          <a:solidFill xmlns:a="http://schemas.openxmlformats.org/drawingml/2006/main">
            <a:srgbClr val="0B2733"/>
          </a:solidFill>
          <a:ln xmlns:a="http://schemas.openxmlformats.org/drawingml/2006/main" w="9525">
            <a:solidFill>
              <a:srgbClr val="1646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AC990-6B91-464F-AF43-4B196AA3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DBA7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DBA74"/>
                </a:solidFill>
                <a:latin typeface="Noto Sans SC"/>
                <a:ea typeface="Noto Sans SC"/>
                <a:cs typeface="Noto Sans SC"/>
              </a:rPr>
              <a:t>01  8D 问题闭环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C8597-417A-488C-803C-6CFF902A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把复杂问题分析清楚</a:t>
            </a:r>
          </a:p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并推动量产结案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2924-BB73-4C83-9FF1-756FFF9A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1,505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96619-1281-436D-8F0B-713FB75B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rPr>
              <a:t>Pcs 成品灯板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BB976-8DFE-41C4-86C3-79ABA66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135,450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14C9E-B4F8-40BE-98E1-9E7233C0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rPr>
              <a:t>Pcs 紫光灯珠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5D763-35ED-4E67-BFDB-612E508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DBA7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DBA74"/>
                </a:solidFill>
                <a:latin typeface="Noto Sans SC"/>
                <a:ea typeface="Noto Sans SC"/>
                <a:cs typeface="Noto Sans SC"/>
              </a:rPr>
              <a:t>¥15,652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75A89-EA33-4451-840D-8492E3D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FB1C9"/>
                </a:solidFill>
                <a:latin typeface="Noto Sans SC"/>
                <a:ea typeface="Noto Sans SC"/>
                <a:cs typeface="Noto Sans SC"/>
              </a:rPr>
              <a:t>案件报废金额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81DF1-80AA-4F37-94C2-3FEB7AF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02  规格书数据闭环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F88E7-6654-46A6-A2C2-215EA2D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把分散信息变成</a:t>
            </a:r>
          </a:p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团队共享的质量入口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16F10-2B2A-452D-A131-56B77F7E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产品编号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E48F4-08A3-4346-8035-B1E70DFB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流程信息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2B99E-ED43-4446-9B1C-1391830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实验室报告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40CCB-DF32-452F-AD99-A87FEB6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2EC34-F5EE-44A7-9A0B-F652B3CB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5FB0D-7626-426B-8880-407D5B53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122B3-65AC-4544-BA77-4DC2E595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AB0EE-68C9-46B7-8391-98A8DFF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AB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79AB2"/>
                </a:solidFill>
                <a:latin typeface="Noto Sans SC"/>
                <a:ea typeface="Noto Sans SC"/>
                <a:cs typeface="Noto Sans SC"/>
              </a:rPr>
              <a:t>案件影响范围，不等同于个人节省金额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B378A-CE44-48EC-B543-970B020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1829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B4904-1238-43A9-BEFD-495996E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8D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28D31-E80F-4CC6-97E2-2AB903A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供应商结论并不能解释全部现象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CF067-D7D4-43DD-A3ED-628934C5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1678A-60C7-4267-AD36-1F702ABC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2026.05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9D1E3-90A1-44C5-8A67-F177C2B1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案件发生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D8075-A53E-496E-8CCB-4F7C5AE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45B2A-F107-4084-9A6C-48A16599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2026.06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6F0E4-0966-4EF7-B788-DB7F7FF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入职后接手并推进8D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CD594-6D04-42C3-997F-7F39940F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33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89545-FCE5-48CF-A40A-6845562C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灯珠供应商的初步方向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D9B7C-8310-4FB2-AEFF-A631091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广东中阳广电科技（灯珠供应商）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28059-BA48-44F1-ABE3-5D9E1BE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2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0223C"/>
                </a:solidFill>
                <a:latin typeface="Noto Sans SC"/>
                <a:ea typeface="Noto Sans SC"/>
                <a:cs typeface="Noto Sans SC"/>
              </a:rPr>
              <a:t>“外部物理损伤，方向指向 SMT 贴片制程”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9225C-C429-49F2-9B09-ADCC864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没有直接接受结论，而是组织内部复核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C9A4E-806F-43C7-A9AF-DAE2080E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跨部门协作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CB0AB-30EE-46D8-9A80-581E5EF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54292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C6BE6-B80D-4A83-92D2-7053C9C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左聪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9DF99-C698-43B7-85EC-606BDD6A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质量｜分析路径与8D推进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2D2E4-E71E-4B90-95EB-DE12E40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9900"/>
            <a:ext cx="25717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344D0-6AE6-41CE-9F36-E73812A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程海洋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E453C-4835-47BB-9FAB-5A132A9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装配车间资源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72BEC-D2AB-4B05-87B0-B486A38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5717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460DC-394F-4574-B7C3-EC8CAD74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王高星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8B279-70B0-4248-A55B-D88C8B0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SMT贴片车间资源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77EFA-085A-4926-A12E-754790FE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25717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83489-4B1B-4B99-AB8C-F8AB2CC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吴昭顺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80740-CBDD-40FF-921D-1242FC0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0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生产工艺改善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7B4A5-8331-49CC-9635-FFB78C43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25717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DC422D-C5CE-476F-9FC0-DC6AFF32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陈中平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417C3-DF44-4442-A0FD-70357638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产品设计改善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CC056-C137-4FE0-BD09-479949D7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608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37458-8CF4-4964-9B13-3C9B8498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8043B-D939-4D2F-886D-ACD2EE92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用验证逐步逼近真正原因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FF577-64CB-4360-81C9-AC8B406D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80E9-2587-4507-A454-A931220C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1D52F-6638-4823-9AE9-688FFB9C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3EFF-B5D9-4F71-98B4-A741ED3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贴片方式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4B6B0-9162-4674-8F43-20749F0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手工与机器均未复现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7B592-44BE-495F-9DAA-9CE7C139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rPr>
              <a:t>初步排除单一贴片方式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2CFC1-644A-403C-96F2-94004DE3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907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EBBD-0168-4DFA-B3A8-FFC053BA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251FE-A0CB-45C5-991B-3EF0F13D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2A66-75C2-4918-9234-E21C9B1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应力复现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0228D-D51E-4656-93FA-10B43AA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震动 33.33%｜跌落 66.67%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866B1-125A-438B-B0C5-4BD1CC0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rPr>
              <a:t>问题转向可靠性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8A564-1996-4C9D-B7E9-6F873D9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623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33021-8598-4F8F-BB99-3136BB9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EC29B-B3AB-49EB-8FA9-468D4DD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0DF37-8EB6-43ED-BEF9-6E138B8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变量交叉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72D83-C3AE-499C-8330-8062560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旧灯板 50%｜新灯板 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75276-ACEF-4DEB-A05A-ECC4209E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rPr>
              <a:t>锁定设计冗余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483F6-492F-424B-8A34-259A723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338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785C4-626C-4034-8209-A259B72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EAB38-3B84-4EB2-B16C-375A0BF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D0DBC-7A5E-472E-BF53-2BC7F5B3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温升复测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5F55D-8325-4297-8D79-4C262CC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峰值 129℃｜原报告 115℃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5CE9A-8662-48F9-A46C-72B2C62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1A4BC"/>
                </a:solidFill>
                <a:latin typeface="Noto Sans SC"/>
                <a:ea typeface="Noto Sans SC"/>
                <a:cs typeface="Noto Sans SC"/>
              </a:rPr>
              <a:t>确认温升异常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a6e5bb7c24254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1809750"/>
            <a:ext cx="6534150" cy="3676650"/>
          </a:xfrm>
          <a:prstGeom xmlns:a="http://schemas.openxmlformats.org/drawingml/2006/main" prst="roundRect">
            <a:avLst>
              <a:gd name="adj" fmla="val 3627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5923E-A651-4DB0-AF81-904D5146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57850"/>
            <a:ext cx="65341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53B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573BC-0912-4761-874E-BFB0E3D0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007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证据不是附件，而是每一次方向调整的依据。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CCEC7-D5ED-43A5-88CA-17553DC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631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0C421-A773-4445-8FA6-6D5BC77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72B98-FA0C-4AFA-B360-41A891B1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两项主因得到确认，改善方案通过量产验证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84C3D-3DB4-434C-A1FA-CDC42EE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B2BB8-F298-4D63-BC32-5F8AE409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主要原因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3707F-04F1-4C40-BDF3-750A298C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产品设计可靠性</a:t>
            </a:r>
          </a:p>
          <a:p xmlns:a="http://schemas.openxmlformats.org/drawingml/2006/main">
            <a:pPr algn="l">
              <a:defRPr sz="24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冗余不足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F92DA-913B-49D0-8339-CA50926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产品温升异常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6413C-8DE2-4D48-9476-A17D751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EED7A-27F7-45C6-B9D4-E2D41A32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71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改善与验证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76F2F-B30E-4846-8EFB-BAB72BF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灯板厚度优化 + 贴片工艺参数调整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DB6DB-D968-4227-AE82-4D3E8A1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旧灯板应力后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DC0BD-C92D-488E-B9FA-812A1E23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05462-1F1B-447C-BE5C-537623A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004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6EB7A-88B1-4AC2-8F52-263388E3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6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新灯板应力后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A6D42-F88D-4CB4-8275-96B2BFE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B981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FE30-88F6-4ED6-829E-270500B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1492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99dbd40dc4ef6"/>
          <a:srcRect xmlns:a="http://schemas.openxmlformats.org/drawingml/2006/main" l="5771" t="0" r="5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2857500"/>
            <a:ext cx="3714750" cy="2362200"/>
          </a:xfrm>
          <a:prstGeom xmlns:a="http://schemas.openxmlformats.org/drawingml/2006/main" prst="roundRect">
            <a:avLst>
              <a:gd name="adj" fmla="val 564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2E0F3-FA0D-4DAB-AA24-5D9A2EF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5D2CF-922D-49B7-82AD-7941CA5E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81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5F4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65F46"/>
                </a:solidFill>
                <a:latin typeface="Noto Sans SC"/>
                <a:ea typeface="Noto Sans SC"/>
                <a:cs typeface="Noto Sans SC"/>
              </a:rPr>
              <a:t>48 Pcs 小批验证通过   →   6月22日大批量生产老化正常   →   案件正式结案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569A3-8FE1-4754-B406-53D1F4D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2101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DBA7E-C4DF-4EDD-B0CF-9475C5A5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NEXT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9BBC-F091-4E42-80CB-FB9E2B49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质量数据仍分散在流程和人员之间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9489A-6AEA-473E-81DA-7D0B65B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DA25F-2ED7-4FCE-9036-9877D81A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改造前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F7C46-DE94-476D-898F-285A7A2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762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159C3-F443-4901-ADAC-F6F6EC85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研发测试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29186-79F6-4E4F-9FF7-B441B38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测试数据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805CD-DE3E-4569-B80F-0F7C325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504E0-3253-498D-8267-CC2ACE5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8DD33-C598-466F-941D-3800779B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57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76184-09A3-4E5F-86D7-FCBDF2A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762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73E2E-6F1C-48E1-B16D-7C180B3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产品经理送样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7F5A-C924-4FC2-BD36-1A9402C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流程与样品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5A262-C54E-4AE3-B1E9-3DB00A1A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1655E-C5DF-4122-ADA1-B3E19522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19D44-192E-46D7-B747-7DA6A8A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D3418-0613-4A70-B478-D1857F57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2762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AAB92-1117-4AD9-8D6E-D01A90ED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DQE终样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A33A5-1705-4381-AE08-0780BBC7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结论与报告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0C698-9C67-4941-860C-B81D979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入口分散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6C5A7-CC56-4141-8A13-42CC48F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需要在多个文件和渠道中查找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43E8B-E5DE-4643-BB02-5285AAC6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依赖知情人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FADD1-5FA7-4C80-9A5C-1AFAF456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完整情况掌握在少数人员手中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237BE-28D6-475D-A38F-FAC83A5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难以追溯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0A3A8-919F-49D9-835D-390F3C7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58C"/>
                </a:solidFill>
                <a:latin typeface="Noto Sans SC"/>
                <a:ea typeface="Noto Sans SC"/>
                <a:cs typeface="Noto Sans SC"/>
              </a:rPr>
              <a:t>历史数据无法围绕产品快速还原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AE913-6A55-4DAE-96F9-9D42393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955D7-FC3D-4EA9-A9A8-BAA9E38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91B1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质量信息如果只存在于个人记忆中，就无法成为可持续的项目能力。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5F028-3F35-4E8A-9F95-83E21800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1081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CFDDD-D643-4E31-9C74-75FDBC8F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DIGITAL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C6AC2-2DFD-4E16-B28F-0B22CC1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以规格书为中心建立电子质量台账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191F0-AC7D-436E-8449-4DE999EF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40848-430B-4A6F-9919-5DB4285D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统一入口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099F7-CEF2-4861-8EB4-050C150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8D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B7C8DB"/>
                </a:solidFill>
                <a:latin typeface="Noto Sans SC"/>
                <a:ea typeface="Noto Sans SC"/>
                <a:cs typeface="Noto Sans SC"/>
              </a:rPr>
              <a:t>项目团队通过产品编号，直接查看：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F2943-1D44-4B1B-9B09-16AB8820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C6CCA-DCC3-4741-905A-C6169A56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产品规格信息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6D55-D2BF-4796-BE33-15A57D7B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6CC5A-4FF2-4FD2-A1F4-28B3AE9D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流程名称与流程单号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AE0A9-78AA-4AA4-846E-02FEFD1C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5A3DB-5BF6-4A34-A670-DA9968F2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测试状态与历史记录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96C1E-3B2C-4E61-983B-C4EC0F9E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DF580-A22D-46A6-BB1C-01C275E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可恢复的归档现场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CCCD2-D824-4D75-9744-6B63558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7B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0A7BF"/>
                </a:solidFill>
                <a:latin typeface="Noto Sans SC"/>
                <a:ea typeface="Noto Sans SC"/>
                <a:cs typeface="Noto Sans SC"/>
              </a:rPr>
              <a:t>由我推动从想法、页面到云端上线，团队可随时访问。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d3cdba26c4153"/>
          <a:srcRect xmlns:a="http://schemas.openxmlformats.org/drawingml/2006/main" l="1652" t="0" r="16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1809750"/>
            <a:ext cx="687705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D76E1-AC25-419B-B29E-437768A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62650"/>
            <a:ext cx="68770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0F2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00B8F-1E46-4515-B23F-0DF6DD76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388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真实界面：规格书、人员、包装、测试流程和OA信息集中展示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AFE64-4861-4EC5-823C-2B4EA2A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2686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6A33B-FEBD-4643-9C5B-3826F24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09E20-ECCC-4C44-95F8-E6F329E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从产品编号出发，可以直达完整实验室报告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90DC5-A579-4D9C-A036-26C6871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AED9D-4F91-4987-9416-68A4271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52650"/>
            <a:ext cx="762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28756-C8FE-4EE8-BC13-8CDE33F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8708E-817F-425F-8A9C-72714ED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DE23D-95F0-488A-AD3F-9A3E1AA4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产品编号检索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3C141-E5CA-4AFF-BB21-FCBD0425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E5C50-3E5F-4532-BED7-A8121483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9D975-6F17-4B3E-98BB-8E8F576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电子台账定位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6464A-D898-4346-B46D-00F681B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549A8-BBA2-4371-9E5A-376C08FF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24C9D-DEA0-42DD-8D54-D7D3FC8E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4233B"/>
                </a:solidFill>
                <a:latin typeface="Noto Sans SC"/>
                <a:ea typeface="Noto Sans SC"/>
                <a:cs typeface="Noto Sans SC"/>
              </a:rPr>
              <a:t>实验室报告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6bd4585294684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57550"/>
            <a:ext cx="5619750" cy="2362200"/>
          </a:xfrm>
          <a:prstGeom xmlns:a="http://schemas.openxmlformats.org/drawingml/2006/main" prst="roundRect">
            <a:avLst>
              <a:gd name="adj" fmla="val 5645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27d7ec4f34fbc"/>
          <a:srcRect xmlns:a="http://schemas.openxmlformats.org/drawingml/2006/main" l="0" t="7443" r="0" b="7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257550"/>
            <a:ext cx="4933950" cy="2362200"/>
          </a:xfrm>
          <a:prstGeom xmlns:a="http://schemas.openxmlformats.org/drawingml/2006/main" prst="roundRect">
            <a:avLst>
              <a:gd name="adj" fmla="val 564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11F76-12D7-4079-934C-1E4281E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CBFB4-B7F6-41D8-9753-7BF280B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0223C"/>
                </a:solidFill>
                <a:latin typeface="Noto Sans SC"/>
                <a:ea typeface="Noto Sans SC"/>
                <a:cs typeface="Noto Sans SC"/>
              </a:rPr>
              <a:t>已沉淀 83 条台账记录｜规格、流程与报告形成同一条质量证据链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DF06E-AC85-4998-99AD-5D0FBA6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8B9AB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5789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B81D8-B70B-4EE2-A633-5940638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NEXT 03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B67B-E882-4217-897C-46E051A0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转正后，持续深化质量数据闭环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E821-E7B7-4083-BABA-9091EDCE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E8203-8516-4027-8B30-2ABCC734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已经沉淀的能力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50E07-B961-4064-9A54-3D8272E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8EF1-D528-4CCA-B31C-7F149F12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系统分析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C6DE3-4250-4F16-BACB-190859A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5C3B8-DA54-4F2D-B75D-61C5817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5FE1B-E5BE-4807-BE5D-C58FCC5A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验证设计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EDC4E-FCDD-4EAE-8142-818B92F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7DFE3-52F4-439D-B7AE-98C89825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86D6E-3447-4E12-95E0-DC2B8743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跨部门推动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3E57B-BD7F-4AF1-A642-D64A42D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0E762-0C55-49A7-A148-DF804809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1109B-4780-44AE-A856-088A343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结果闭环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5B5B3-8EF9-4F2F-9B50-35F06E9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D2605-6CE6-4007-BAFF-FEC5ADA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8819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8F808-E615-4615-87D4-A9E4090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数字化落地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56576-841A-402C-9804-80D0DAE2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01A6A-5FEF-44A6-9148-45B41C0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2FA2-EC98-4851-B170-13790AB9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B98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未来三个月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548E6-733F-49C1-84D6-C160E09E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C76C8-5087-4BAD-A8A9-F2133CA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71723-0C64-4CD7-9354-E72F907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提升规格书与实验室报告的数据完整性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CBDF0-F207-434E-8468-498ECE3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85D49-8B1E-4952-AED9-B199F10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C6DD8-7A57-4A0D-9593-ECE830D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完善产品编号、流程单号和报告关联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6D3E5-5129-4AEE-964B-EC5FAB92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3979E-49AE-4967-BC22-2C9448E9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29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86664-8474-4F8D-9708-95D13AB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推动项目成员稳定使用并收集反馈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79EEB-9FF0-4E56-B836-AA479CF3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BB676-9911-469D-9A89-61EF75F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148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410F09-2741-4B6B-91AE-4C00C958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8FAFC"/>
                </a:solidFill>
                <a:latin typeface="Noto Sans SC"/>
                <a:ea typeface="Noto Sans SC"/>
                <a:cs typeface="Noto Sans SC"/>
              </a:rPr>
              <a:t>持续沉淀典型质量问题和验证证据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E1D90-09B3-4BC9-B721-041B1377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91150"/>
            <a:ext cx="67056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C3A"/>
          </a:solidFill>
          <a:ln xmlns:a="http://schemas.openxmlformats.org/drawingml/2006/main" w="9525">
            <a:solidFill>
              <a:srgbClr val="1D5A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FBB71-02F9-42DB-B114-A3E4659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把一次问题解决好，把一套方法沉淀下来，</a:t>
            </a:r>
          </a:p>
          <a:p xmlns:a="http://schemas.openxmlformats.org/drawingml/2006/main">
            <a:pPr algn="ctr">
              <a:defRPr sz="172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CFFAFE"/>
                </a:solidFill>
                <a:latin typeface="Noto Sans SC"/>
                <a:ea typeface="Noto Sans SC"/>
                <a:cs typeface="Noto Sans SC"/>
              </a:rPr>
              <a:t>让质量信息真正服务项目决策。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2DA88-AA38-4107-94C0-DAD493D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1">
                <a:solidFill>
                  <a:srgbClr val="7F91A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7500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2026-07-27T03:52:04.0780000Z</dcterms:created>
  <dcterms:modified xsi:type="dcterms:W3CDTF">2026-07-27T03:52:04.0790000Z</dcterms:modified>
</coreProperties>
</file>